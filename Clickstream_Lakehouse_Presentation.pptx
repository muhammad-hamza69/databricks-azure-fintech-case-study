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0" r:id="rId8"/>
    <p:sldId id="261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28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7"/>
        <p:guide pos="28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43484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5B6"/>
                </a:solidFill>
              </a:rPr>
              <a:t>CLOUD DATA ENGINEERING &amp; ADVANCED ML PLATFORM</a:t>
            </a:r>
            <a:endParaRPr sz="1400" b="1">
              <a:solidFill>
                <a:srgbClr val="2E75B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102360"/>
            <a:ext cx="1069848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Impact </a:t>
            </a:r>
            <a:r>
              <a:rPr sz="4800" b="1">
                <a:solidFill>
                  <a:srgbClr val="FFFFFF"/>
                </a:solidFill>
              </a:rPr>
              <a:t>Clickstream Lakehouse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7080" y="2125345"/>
            <a:ext cx="10698480" cy="4895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>
                <a:solidFill>
                  <a:srgbClr val="D6E4F0"/>
                </a:solidFill>
              </a:rPr>
              <a:t>End-to-End Real-Time Data Platform &amp; Purchase Propensity Machine Learning on Azure Databricks</a:t>
            </a:r>
            <a:endParaRPr>
              <a:solidFill>
                <a:srgbClr val="D6E4F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4215" y="2910840"/>
            <a:ext cx="10725912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164840"/>
            <a:ext cx="1960880" cy="452755"/>
          </a:xfrm>
          <a:prstGeom prst="roundRect">
            <a:avLst/>
          </a:prstGeom>
          <a:solidFill>
            <a:srgbClr val="16395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⚡ Azure Event Hubs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34640" y="3164840"/>
            <a:ext cx="2235200" cy="467995"/>
          </a:xfrm>
          <a:prstGeom prst="roundRect">
            <a:avLst/>
          </a:prstGeom>
          <a:solidFill>
            <a:srgbClr val="16395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🧱 </a:t>
            </a:r>
            <a:r>
              <a:rPr lang="en-US" sz="1000" b="1">
                <a:solidFill>
                  <a:srgbClr val="FFFFFF"/>
                </a:solidFill>
              </a:rPr>
              <a:t> </a:t>
            </a:r>
            <a:r>
              <a:rPr sz="1000" b="1">
                <a:solidFill>
                  <a:srgbClr val="FFFFFF"/>
                </a:solidFill>
              </a:rPr>
              <a:t>Databricks Auto Loader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212080" y="3164840"/>
            <a:ext cx="2054225" cy="503555"/>
          </a:xfrm>
          <a:prstGeom prst="roundRect">
            <a:avLst/>
          </a:prstGeom>
          <a:solidFill>
            <a:srgbClr val="16395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⚙️ dbt Transformation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06640" y="3164840"/>
            <a:ext cx="1965960" cy="467995"/>
          </a:xfrm>
          <a:prstGeom prst="roundRect">
            <a:avLst/>
          </a:prstGeom>
          <a:solidFill>
            <a:srgbClr val="16395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🎯 LightGBM + MLflow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509760" y="3164840"/>
            <a:ext cx="1955800" cy="581660"/>
          </a:xfrm>
          <a:prstGeom prst="roundRect">
            <a:avLst/>
          </a:prstGeom>
          <a:solidFill>
            <a:srgbClr val="16395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☁️ Salesforce Reverse ETL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4387215"/>
            <a:ext cx="2106295" cy="1241425"/>
          </a:xfrm>
          <a:prstGeom prst="roundRect">
            <a:avLst/>
          </a:prstGeom>
          <a:solidFill>
            <a:srgbClr val="16395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2.75M</a:t>
            </a:r>
            <a:endParaRPr sz="30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Clickstream Events Ingested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55035" y="4387850"/>
            <a:ext cx="2282190" cy="1226185"/>
          </a:xfrm>
          <a:prstGeom prst="roundRect">
            <a:avLst/>
          </a:prstGeom>
          <a:solidFill>
            <a:srgbClr val="16395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0.97</a:t>
            </a:r>
            <a:endParaRPr sz="30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ROC-AUC Prediction Score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4404995"/>
            <a:ext cx="2274570" cy="1210310"/>
          </a:xfrm>
          <a:prstGeom prst="roundRect">
            <a:avLst/>
          </a:prstGeom>
          <a:solidFill>
            <a:srgbClr val="16395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&lt; 40 min</a:t>
            </a:r>
            <a:endParaRPr sz="30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Bronze to Gold Pipeline Time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1120" y="4404995"/>
            <a:ext cx="2398395" cy="1205230"/>
          </a:xfrm>
          <a:prstGeom prst="roundRect">
            <a:avLst/>
          </a:prstGeom>
          <a:solidFill>
            <a:srgbClr val="16395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3,862</a:t>
            </a:r>
            <a:endParaRPr sz="30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Daily Salesforce CRM Syncs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6263640"/>
            <a:ext cx="57708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D6E4F0"/>
                </a:solidFill>
              </a:rPr>
              <a:t>Azure Databricks  •  Unity Catalog  •  dbt  •  MLflow  •  Streamlit  •  Salesforce</a:t>
            </a:r>
            <a:endParaRPr sz="1400">
              <a:solidFill>
                <a:srgbClr val="D6E4F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3425" y="3149600"/>
            <a:ext cx="1960880" cy="532765"/>
          </a:xfrm>
          <a:prstGeom prst="roundRect">
            <a:avLst/>
          </a:prstGeom>
          <a:solidFill>
            <a:srgbClr val="16395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⚡ Azure Event Hubs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36545" y="3149600"/>
            <a:ext cx="2235200" cy="550545"/>
          </a:xfrm>
          <a:prstGeom prst="roundRect">
            <a:avLst/>
          </a:prstGeom>
          <a:solidFill>
            <a:srgbClr val="16395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🧱 </a:t>
            </a:r>
            <a:r>
              <a:rPr lang="en-US" sz="1200" b="1">
                <a:solidFill>
                  <a:srgbClr val="FFFFFF"/>
                </a:solidFill>
              </a:rPr>
              <a:t>  </a:t>
            </a:r>
            <a:r>
              <a:rPr sz="1200" b="1">
                <a:solidFill>
                  <a:srgbClr val="FFFFFF"/>
                </a:solidFill>
              </a:rPr>
              <a:t>Databricks Auto Loader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13985" y="3149600"/>
            <a:ext cx="2054225" cy="592455"/>
          </a:xfrm>
          <a:prstGeom prst="roundRect">
            <a:avLst/>
          </a:prstGeom>
          <a:solidFill>
            <a:srgbClr val="16395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⚙ dbt Transformation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408545" y="3149600"/>
            <a:ext cx="1965960" cy="582930"/>
          </a:xfrm>
          <a:prstGeom prst="roundRect">
            <a:avLst/>
          </a:prstGeom>
          <a:solidFill>
            <a:srgbClr val="16395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🎯 </a:t>
            </a:r>
            <a:r>
              <a:rPr lang="en-US" sz="1200" b="1">
                <a:solidFill>
                  <a:srgbClr val="FFFFFF"/>
                </a:solidFill>
              </a:rPr>
              <a:t> </a:t>
            </a:r>
            <a:r>
              <a:rPr sz="1200" b="1">
                <a:solidFill>
                  <a:srgbClr val="FFFFFF"/>
                </a:solidFill>
              </a:rPr>
              <a:t>LightGBM + MLflow</a:t>
            </a:r>
            <a:endParaRPr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5780" y="224028"/>
            <a:ext cx="91440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E75B6"/>
                </a:solidFill>
              </a:rPr>
              <a:t>CLOUD DATA ENGINEERING &amp; ML PROJECT</a:t>
            </a:r>
            <a:endParaRPr sz="1050" b="1">
              <a:solidFill>
                <a:srgbClr val="2E75B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1490" y="38176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1F4E79"/>
                </a:solidFill>
              </a:rPr>
              <a:t>Clickstream Lakehouse Overview</a:t>
            </a:r>
            <a:endParaRPr sz="2600" b="1">
              <a:solidFill>
                <a:srgbClr val="1F4E79"/>
              </a:solidFill>
            </a:endParaRPr>
          </a:p>
          <a:p>
            <a:r>
              <a:rPr sz="1200">
                <a:solidFill>
                  <a:srgbClr val="6B6B6B"/>
                </a:solidFill>
              </a:rPr>
              <a:t>End-to-End Data Platform with Purchase Propensity ML on Azure Databricks</a:t>
            </a:r>
            <a:endParaRPr sz="1200">
              <a:solidFill>
                <a:srgbClr val="6B6B6B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074420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63015"/>
            <a:ext cx="5394960" cy="31337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925" y="1478915"/>
            <a:ext cx="76200" cy="267843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840" y="1288415"/>
            <a:ext cx="5090160" cy="3060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500" b="1">
                <a:solidFill>
                  <a:srgbClr val="1F4E79"/>
                </a:solidFill>
              </a:rPr>
              <a:t>Problem Statement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1840" y="1587500"/>
            <a:ext cx="271081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75B6"/>
                </a:solidFill>
              </a:rPr>
              <a:t>Current Bottlenecks &amp; Legacy Limitations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1840" y="1863090"/>
            <a:ext cx="503936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Raw clickstream data (2.75M events) stored in flat CSVs with no pipeline or automation.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No real-time ingestion: analyzing user behavior required manual bulk data loads.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No purchase prediction capability: marketing teams made decisions without data-driven signals.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Data quality unverified: duplicate events, null keys, and invalid types went undetected.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No connection between analytics and CRM: Salesforce had zero visibility into visitor engagement.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263015"/>
            <a:ext cx="5420360" cy="3152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4900" y="1557020"/>
            <a:ext cx="76200" cy="258889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1120" y="1298575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Solution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21120" y="1557020"/>
            <a:ext cx="2694305" cy="30162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>
                <a:solidFill>
                  <a:srgbClr val="2E75B6"/>
                </a:solidFill>
              </a:rPr>
              <a:t>Modern Medallion Architecture </a:t>
            </a:r>
            <a:r>
              <a:rPr sz="1200">
                <a:solidFill>
                  <a:srgbClr val="2E75B6"/>
                </a:solidFill>
              </a:rPr>
              <a:t>&amp; ML Pipeline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2705" y="1840230"/>
            <a:ext cx="5039360" cy="2442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Medallion Lakehouse (Bronze/Silver/Gold) on Azure Databricks with Unity Catalog governance.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Event Hubs + Azure Function for real-time streaming ingestion with Auto Loader checkpoint.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dbt data transformation: 12 models, 25 automated tests for quality gating.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ML purchase propensity model: 10 algorithms compared, isotonic-calibrated LightGBM deployed.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Reverse ETL via Fivetran: 3,862 visitor engagement records synced to Salesforce daily.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Streamlit scoring app: real-time model serving on 20,000 candidate interactions.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0550" y="4582795"/>
            <a:ext cx="4570730" cy="3060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500" b="1">
                <a:solidFill>
                  <a:srgbClr val="2E75B6"/>
                </a:solidFill>
              </a:rPr>
              <a:t>IMPACT OF THE SOLUTION</a:t>
            </a:r>
            <a:endParaRPr sz="1500" b="1">
              <a:solidFill>
                <a:srgbClr val="2E75B6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5101590"/>
            <a:ext cx="2402840" cy="1105535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0.395</a:t>
            </a:r>
            <a:endParaRPr sz="2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PR-AUC (Calibrated Model)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364865" y="5101590"/>
            <a:ext cx="2436495" cy="110871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0.97</a:t>
            </a:r>
            <a:endParaRPr sz="2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ROC-AUC Score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81090" y="5101590"/>
            <a:ext cx="2439670" cy="1113155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84%</a:t>
            </a:r>
            <a:endParaRPr sz="2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Max Calibrated Probability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97950" y="5101590"/>
            <a:ext cx="2334260" cy="1113155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3,862</a:t>
            </a:r>
            <a:endParaRPr sz="2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Salesforce Records Synced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32880"/>
            <a:ext cx="45142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Clickstream Lakehouse  |  Azure + Databricks + dbt + MLflow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1</a:t>
            </a:r>
            <a:endParaRPr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00025"/>
            <a:ext cx="9144000" cy="43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ML Model Deep Dive</a:t>
            </a:r>
            <a:endParaRPr sz="24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804672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37260"/>
            <a:ext cx="76200" cy="19481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840" y="931672"/>
            <a:ext cx="145669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Input Parameters</a:t>
            </a:r>
            <a:endParaRPr sz="1400" b="1">
              <a:solidFill>
                <a:srgbClr val="1F4E7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1840" y="1236472"/>
            <a:ext cx="307149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75B6"/>
                </a:solidFill>
              </a:rPr>
              <a:t>Features fed to the purchase propensity model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1840" y="1490472"/>
            <a:ext cx="5039360" cy="1455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view_count: Number of times the visitor viewed this item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addtocart_count: Number of cart-add events for this item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days_since_last_interaction: Recency (days since last activity)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item_is_available: Boolean flag from item properties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item_category_id deliberately EXCLUDED: nominal ID with no ordering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transaction_count excluded as feature to prevent label leakage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804672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68375"/>
            <a:ext cx="76200" cy="190436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1120" y="931672"/>
            <a:ext cx="13773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Training Dataset</a:t>
            </a:r>
            <a:endParaRPr sz="1400" b="1">
              <a:solidFill>
                <a:srgbClr val="1F4E7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1120" y="1236472"/>
            <a:ext cx="375031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75B6"/>
                </a:solidFill>
              </a:rPr>
              <a:t>clickstream.ml_training.ml_training_purchase_propensity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21120" y="1510792"/>
            <a:ext cx="503936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2,144,652 total rows (one per visitor-item interaction pair)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20,743 positive labels (actual purchases = ~0.97% positive rate)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Train/Test split: 75% / 25% with stratified sampling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Source: RetailRocket clickstream dataset (2.75M events)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Label: label_purchased (1 if transaction_count &gt; 0, else 0)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4345" y="3154680"/>
            <a:ext cx="459803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10</a:t>
            </a:r>
            <a:r>
              <a:rPr lang="en-US" sz="1500" b="1">
                <a:solidFill>
                  <a:srgbClr val="1F4E79"/>
                </a:solidFill>
              </a:rPr>
              <a:t> </a:t>
            </a:r>
            <a:r>
              <a:rPr sz="1500" b="1">
                <a:solidFill>
                  <a:srgbClr val="1F4E79"/>
                </a:solidFill>
              </a:rPr>
              <a:t>Candidate Algorithm Comparison (sorted by PR-AUC)</a:t>
            </a:r>
            <a:endParaRPr sz="1500" b="1">
              <a:solidFill>
                <a:srgbClr val="1F4E79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515360"/>
          <a:ext cx="11091672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1371600"/>
                <a:gridCol w="1371600"/>
                <a:gridCol w="2496312"/>
              </a:tblGrid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Candidate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lightgbm_depth6 (WINNER)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Gradient Boosting (LightGBM)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0.3916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0.9726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Calibrated &amp; Registered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xgboost_depth6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Gradient Boosting (XGBoost)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0.3893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random_forest_depth6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Ensemble (Random Forest)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random_forest_depth3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Ensemble (Random Forest)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logistic_regression (C=0.1)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Linear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logistic_regression (C=0.01)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Linear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logistic_regression (C=0.001)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Linear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logistic_regression (C=1.0)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Linear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extra_trees_depth6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Ensemble (Extra Trees)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naive_bayes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Probabilistic (Gaussian NB)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3200"/>
            <a:ext cx="45142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Clickstream Lakehouse  |  Azure + Databricks + dbt + MLflow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2</a:t>
            </a:r>
            <a:endParaRPr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7800"/>
            <a:ext cx="9144000" cy="43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Model Accuracy &amp; Calibration</a:t>
            </a:r>
            <a:endParaRPr sz="24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804672"/>
            <a:ext cx="539496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87425"/>
            <a:ext cx="76200" cy="206184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840" y="798195"/>
            <a:ext cx="5090160" cy="2908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500" b="1">
                <a:solidFill>
                  <a:srgbClr val="1F4E79"/>
                </a:solidFill>
              </a:rPr>
              <a:t>Isotonic Calibration (v7)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1840" y="1058672"/>
            <a:ext cx="30499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75B6"/>
                </a:solidFill>
              </a:rPr>
              <a:t>CalibratedClassifierCV wraps LightGBM winner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6760" y="1292860"/>
            <a:ext cx="5039360" cy="1917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BEFORE: rows scored 90-100% only converted ~31% in reality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AFTER: predicted vs. actual match closely across every band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Predicted 0-10%  -&gt;  Actual 0.09% observed conversion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Predicted 30-40% -&gt;  Actual 35.5% observed conversion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Predicted 40-50% -&gt;  Actual 42.4% observed conversion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Predicted 60-70% -&gt;  Actual 65.6% observed conversion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Max output across 20K candidates: 84% (no false 99%)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PR-AUC after calibration: 0.395 (ranking quality preserved)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804672"/>
            <a:ext cx="539496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flipH="1">
            <a:off x="6223635" y="995045"/>
            <a:ext cx="76200" cy="204660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1120" y="799592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Model Selection Criteria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1120" y="1048512"/>
            <a:ext cx="262699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75B6"/>
                </a:solidFill>
              </a:rPr>
              <a:t>Beyond PR-AUC: two mandatory checks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21120" y="1315085"/>
            <a:ext cx="5039360" cy="2000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Non-degenerate probability spread: test-set std &gt; 0.02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Stress test: hand-built 'disengaged' vs 'engaged' examples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Low engagement (0 views, 60 days stale) must score &lt; 50%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Gap between high and low engagement must be &gt;= 30 points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All 10 candidates pass both checks at full data scale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At demo scale (20 positives), EVERY candidate failed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class_weight='balanced' used across all models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3344672"/>
            <a:ext cx="4572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Tech Stack</a:t>
            </a:r>
            <a:endParaRPr sz="1600" b="1">
              <a:solidFill>
                <a:srgbClr val="1F4E79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3715512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040" y="3862832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Azure Databricks</a:t>
            </a:r>
            <a:endParaRPr sz="1300" b="1">
              <a:solidFill>
                <a:srgbClr val="1F4E7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1040" y="4147312"/>
            <a:ext cx="331216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Unity Catalog-governed Lakehouse: Auto Loader, Delta Lake, MLflow experiment tracking &amp; model registry</a:t>
            </a:r>
            <a:endParaRPr sz="1200">
              <a:solidFill>
                <a:srgbClr val="555555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06824" y="3715512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9224" y="3867912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Azure Event Hubs</a:t>
            </a:r>
            <a:endParaRPr sz="1300" b="1">
              <a:solidFill>
                <a:srgbClr val="1F4E79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59224" y="4147312"/>
            <a:ext cx="331216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Streaming ingestion: 3 hubs (events, item-properties, category-tree) with Avro Capture to ADLS Gen2</a:t>
            </a:r>
            <a:endParaRPr sz="1200">
              <a:solidFill>
                <a:srgbClr val="555555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65008" y="3715512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7408" y="3872992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dbt (dbt-databricks)</a:t>
            </a:r>
            <a:endParaRPr sz="1300" b="1">
              <a:solidFill>
                <a:srgbClr val="1F4E79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7408" y="4147312"/>
            <a:ext cx="33121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12 SQL models across Silver/Gold/ML schemas, 25 automated tests for data quality gating</a:t>
            </a:r>
            <a:endParaRPr sz="1200">
              <a:solidFill>
                <a:srgbClr val="555555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512572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040" y="5278120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scikit-learn + MLflow</a:t>
            </a:r>
            <a:endParaRPr sz="1300" b="1">
              <a:solidFill>
                <a:srgbClr val="1F4E79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1040" y="5557520"/>
            <a:ext cx="33121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10-candidate comparison, isotonic calibration, auto-registration to Unity Catalog model registry</a:t>
            </a:r>
            <a:endParaRPr sz="1200">
              <a:solidFill>
                <a:srgbClr val="555555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306824" y="512572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8970" y="5283200"/>
            <a:ext cx="3312160" cy="267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 b="1">
                <a:solidFill>
                  <a:srgbClr val="1F4E79"/>
                </a:solidFill>
              </a:rPr>
              <a:t>LightGBM / XGBoost</a:t>
            </a:r>
            <a:endParaRPr sz="1300" b="1">
              <a:solidFill>
                <a:srgbClr val="1F4E79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59224" y="5557520"/>
            <a:ext cx="33121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Gradient-boosted tree algorithms: LightGBM won (PR-AUC 0.392), XGBoost runner-up (0.389)</a:t>
            </a:r>
            <a:endParaRPr sz="1200">
              <a:solidFill>
                <a:srgbClr val="555555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065008" y="512572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7408" y="5273040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Streamlit + Fivetran</a:t>
            </a:r>
            <a:endParaRPr sz="1300" b="1">
              <a:solidFill>
                <a:srgbClr val="1F4E79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17408" y="5557520"/>
            <a:ext cx="33121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Real-time scoring app (20K candidates) + daily reverse ETL sync to Salesforce (3,862 records)</a:t>
            </a:r>
            <a:endParaRPr sz="1200">
              <a:solidFill>
                <a:srgbClr val="555555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553200"/>
            <a:ext cx="45142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Clickstream Lakehouse  |  Azure + Databricks + dbt + MLflow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3</a:t>
            </a:r>
            <a:endParaRPr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635" y="214630"/>
            <a:ext cx="9144000" cy="4229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400" b="1">
                <a:solidFill>
                  <a:srgbClr val="1F4E79"/>
                </a:solidFill>
              </a:rPr>
              <a:t>System Architecture</a:t>
            </a:r>
            <a:endParaRPr sz="24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3200"/>
            <a:ext cx="45142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Clickstream Lakehouse  |  Azure + Databricks + dbt + MLflow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6</a:t>
            </a:r>
            <a:endParaRPr sz="950">
              <a:solidFill>
                <a:srgbClr val="FFFFFF"/>
              </a:solidFill>
            </a:endParaRPr>
          </a:p>
        </p:txBody>
      </p:sp>
      <p:pic>
        <p:nvPicPr>
          <p:cNvPr id="10" name="Picture 9" descr="Architecture-Diagram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8845"/>
            <a:ext cx="11677650" cy="518350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31165" y="750570"/>
            <a:ext cx="548640" cy="483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248920"/>
            <a:ext cx="9144000" cy="43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Business Impact: Before &amp; After</a:t>
            </a:r>
            <a:endParaRPr sz="24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04672"/>
          <a:ext cx="1109167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26864"/>
                <a:gridCol w="4636008"/>
              </a:tblGrid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Dimension</a:t>
                      </a:r>
                      <a:endParaRPr sz="1200"/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BEFORE (Manual / No Pipeline)</a:t>
                      </a:r>
                      <a:endParaRPr sz="1200"/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AFTER (Clickstream Lakehouse)</a:t>
                      </a:r>
                      <a:endParaRPr sz="1200"/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Data Ingestion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Manual CSV bulk loads, no schedule, hours of effort</a:t>
                      </a:r>
                      <a:endParaRPr sz="1200"/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Automated streaming via Event Hubs + Auto Loader (every 30 min)</a:t>
                      </a:r>
                      <a:endParaRPr sz="120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Data Quality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No validation: duplicates, null keys, invalid types</a:t>
                      </a:r>
                      <a:endParaRPr sz="1200"/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25 automated dbt tests: not-null, uniqueness, accepted-values</a:t>
                      </a:r>
                      <a:endParaRPr sz="120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Data Freshness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Stale: analysis only after manual refresh</a:t>
                      </a:r>
                      <a:endParaRPr sz="1200"/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Near real-time: Bronze to Gold in &lt; 40 min end-to-end</a:t>
                      </a:r>
                      <a:endParaRPr sz="120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Purchase Prediction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None: no ML, marketing relies on gut feeling</a:t>
                      </a:r>
                      <a:endParaRPr sz="1200"/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Calibrated LightGBM: PR-AUC 0.395, scores 20K candidates/sec</a:t>
                      </a:r>
                      <a:endParaRPr sz="120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CRM Integration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Zero: Salesforce blind to clickstream behavior</a:t>
                      </a:r>
                      <a:endParaRPr sz="1200"/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3,862 visitor records synced daily with engagement data</a:t>
                      </a:r>
                      <a:endParaRPr sz="120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Analytics / BI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Ad-hoc queries on raw CSVs, no KPI dashboards</a:t>
                      </a:r>
                      <a:endParaRPr sz="1200"/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Power BI Gold layer: funnel trends, conversion rates, item perf</a:t>
                      </a:r>
                      <a:endParaRPr sz="120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Model Reliability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N/A</a:t>
                      </a:r>
                      <a:endParaRPr sz="1200"/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Isotonic-calibrated: predicted scores match actual rates within 3%</a:t>
                      </a:r>
                      <a:endParaRPr sz="120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Infrastructure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Manual setup, no IaC, unreproducible</a:t>
                      </a:r>
                      <a:endParaRPr sz="1200"/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Full Terraform + deploy.sh: one-command full rebuild</a:t>
                      </a:r>
                      <a:endParaRPr sz="120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353560"/>
            <a:ext cx="4572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E75B6"/>
                </a:solidFill>
              </a:rPr>
              <a:t>KEY BUSINESS OUTCOMES</a:t>
            </a:r>
            <a:endParaRPr sz="1500" b="1">
              <a:solidFill>
                <a:srgbClr val="2E75B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4848860"/>
            <a:ext cx="2084705" cy="1396365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~95%</a:t>
            </a:r>
            <a:endParaRPr sz="2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Less Manual Data Effort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97810" y="4839335"/>
            <a:ext cx="2084705" cy="140589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&lt; 40 min</a:t>
            </a:r>
            <a:endParaRPr sz="2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End-to-End Pipeline Time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47615" y="4844415"/>
            <a:ext cx="2084705" cy="140081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25/25</a:t>
            </a:r>
            <a:endParaRPr sz="2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Automated Quality Tests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96785" y="4845685"/>
            <a:ext cx="2084705" cy="13995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100%</a:t>
            </a:r>
            <a:endParaRPr sz="2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Records Synced Successfully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546590" y="4849495"/>
            <a:ext cx="2084705" cy="139573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38.4 min</a:t>
            </a:r>
            <a:endParaRPr sz="2800" b="1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Full Pipeline Runtime</a:t>
            </a:r>
            <a:endParaRPr sz="1050">
              <a:solidFill>
                <a:srgbClr val="D6E4F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53200"/>
            <a:ext cx="45142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Clickstream Lakehouse  |  Azure + Databricks + dbt + MLflow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4</a:t>
            </a:r>
            <a:endParaRPr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2720"/>
            <a:ext cx="9144000" cy="43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How Can We Improve the Model More</a:t>
            </a:r>
            <a:endParaRPr sz="24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804672"/>
            <a:ext cx="5394960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83945"/>
            <a:ext cx="76200" cy="209105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840" y="885952"/>
            <a:ext cx="186817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Feature Engineering</a:t>
            </a:r>
            <a:endParaRPr sz="1600" b="1">
              <a:solidFill>
                <a:srgbClr val="1F4E7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6760" y="1200785"/>
            <a:ext cx="278574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E75B6"/>
                </a:solidFill>
              </a:rPr>
              <a:t>Richer features for better signal extraction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1360" y="1511300"/>
            <a:ext cx="5039360" cy="1790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Session-level features: session duration, page-sequence patterns, bounce rates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Temporal features: time-of-day, day-of-week purchase patterns, seasonality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Category embedding: learn dense representations instead of excluding category_id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Visitor-level aggregates: lifetime value, cross-category interest breadth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Interaction velocity: rate of engagement change over recent time windows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804672"/>
            <a:ext cx="5394960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26490"/>
            <a:ext cx="76200" cy="205930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1120" y="916432"/>
            <a:ext cx="186436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Data Enhancements</a:t>
            </a:r>
            <a:endParaRPr sz="1600" b="1">
              <a:solidFill>
                <a:srgbClr val="1F4E7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1120" y="1256792"/>
            <a:ext cx="246951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75B6"/>
                </a:solidFill>
              </a:rPr>
              <a:t>More data, better data, richer signals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21120" y="1637665"/>
            <a:ext cx="5039360" cy="150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Real product metadata: names, prices, images for content-based features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External data: marketing campaigns, promotions, seasonal events as signals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Continuous ingestion: move from batch-replay to real-time event streaming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A/B testing framework: controlled experiments on model-driven recommendations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User demographic data: age, location, device type for segmentation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5394960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Rectangle 15"/>
          <p:cNvSpPr/>
          <p:nvPr/>
        </p:nvSpPr>
        <p:spPr>
          <a:xfrm>
            <a:off x="548640" y="3886835"/>
            <a:ext cx="76200" cy="205930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751840" y="3652520"/>
            <a:ext cx="186436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Advanced Modeling</a:t>
            </a:r>
            <a:endParaRPr sz="1600" b="1">
              <a:solidFill>
                <a:srgbClr val="1F4E7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1840" y="3931920"/>
            <a:ext cx="29171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75B6"/>
                </a:solidFill>
              </a:rPr>
              <a:t>More sophisticated algorithms &amp; techniques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1840" y="4251960"/>
            <a:ext cx="5039360" cy="151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Deep learning: TabNet or Wide &amp; Deep neural networks for tabular data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Sequence models: LSTM / Transformer on clickstream event sequences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Hyperparameter tuning: Optuna/Hyperopt systematic search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Ensemble stacking: combine LightGBM + XGBoost + RF for marginal gains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Online learning: incremental updates without full retraining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Uplift modeling: predict incremental lift of interventions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3566160"/>
            <a:ext cx="5394960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Rectangle 20"/>
          <p:cNvSpPr/>
          <p:nvPr/>
        </p:nvSpPr>
        <p:spPr>
          <a:xfrm>
            <a:off x="6217920" y="3886835"/>
            <a:ext cx="76200" cy="205930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6421120" y="3652520"/>
            <a:ext cx="246189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Operational Improvements</a:t>
            </a:r>
            <a:endParaRPr sz="1600" b="1">
              <a:solidFill>
                <a:srgbClr val="1F4E79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21120" y="3943985"/>
            <a:ext cx="2383790" cy="28384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>
                <a:solidFill>
                  <a:srgbClr val="2E75B6"/>
                </a:solidFill>
              </a:rPr>
              <a:t>Production hardening &amp; monitoring</a:t>
            </a:r>
            <a:endParaRPr sz="1200">
              <a:solidFill>
                <a:srgbClr val="2E75B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21120" y="4272280"/>
            <a:ext cx="5039360" cy="1513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Model monitoring: data drift detection (PSI) + automated retraining triggers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A/B model serving: shadow deploy new versions alongside production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Databricks Model Serving: server-side REST endpoint instead of client-side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Feature Store: centralized, versioned features for train/serve parity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Automated scheduling: retrain on data volume thresholds, not ad-hoc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 Explainability: SHAP/LIME dashboards for stakeholder trust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53200"/>
            <a:ext cx="45142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Clickstream Lakehouse  |  Azure + Databricks + dbt + MLflow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5</a:t>
            </a:r>
            <a:endParaRPr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8578</Words>
  <Application>WPS Presentation</Application>
  <PresentationFormat>On-screen Show (4:3)</PresentationFormat>
  <Paragraphs>409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Hamza Siddiqui</cp:lastModifiedBy>
  <cp:revision>6</cp:revision>
  <dcterms:created xsi:type="dcterms:W3CDTF">2013-01-27T09:14:00Z</dcterms:created>
  <dcterms:modified xsi:type="dcterms:W3CDTF">2026-09-11T09:31:36Z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FFE8657963494E5FBE801179AF1DDA8D_12</vt:lpwstr>
  </property>
</Properties>
</file>