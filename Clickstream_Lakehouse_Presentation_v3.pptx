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1091672" cy="379476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22960"/>
            <a:ext cx="3840480" cy="34747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CLOUD DATA ENGINEERING &amp; 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Clickstream Lakehouse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E4F0"/>
                </a:solidFill>
              </a:rPr>
              <a:t>End-to-End Real-Time Data Platform &amp; Purchase Propensity Machine Learning on Azure Databricks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97480"/>
            <a:ext cx="1036015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07792"/>
            <a:ext cx="1920240" cy="347472"/>
          </a:xfrm>
          <a:prstGeom prst="roundRect">
            <a:avLst/>
          </a:prstGeom>
          <a:solidFill>
            <a:srgbClr val="2B5D8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⚡ Azure Event Hubs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907792"/>
            <a:ext cx="2148840" cy="347472"/>
          </a:xfrm>
          <a:prstGeom prst="roundRect">
            <a:avLst/>
          </a:prstGeom>
          <a:solidFill>
            <a:srgbClr val="2B5D8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🧱 Databricks Auto 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907792"/>
            <a:ext cx="2011680" cy="347472"/>
          </a:xfrm>
          <a:prstGeom prst="roundRect">
            <a:avLst/>
          </a:prstGeom>
          <a:solidFill>
            <a:srgbClr val="2B5D8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⚙️ dbt 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907792"/>
            <a:ext cx="1920240" cy="347472"/>
          </a:xfrm>
          <a:prstGeom prst="roundRect">
            <a:avLst/>
          </a:prstGeom>
          <a:solidFill>
            <a:srgbClr val="2B5D8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🎯 LightGBM + MLflow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2907792"/>
            <a:ext cx="2148840" cy="347472"/>
          </a:xfrm>
          <a:prstGeom prst="roundRect">
            <a:avLst/>
          </a:prstGeom>
          <a:solidFill>
            <a:srgbClr val="2B5D8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☁️ Salesforce Reverse ETL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2633472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2.75M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Clickstream Events Processed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480560"/>
            <a:ext cx="2633472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0.97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ROC-AUC Purchase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4480560"/>
            <a:ext cx="2633472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&lt; 40 min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Bronze to Gold Pipeline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4480560"/>
            <a:ext cx="2633472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3,862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Daily Salesforce CRM Syncs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E75B6"/>
                </a:solidFill>
              </a:rPr>
              <a:t>CLOUD DATA ENGINEERING &amp; ML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F4E79"/>
                </a:solidFill>
              </a:rPr>
              <a:t>Clickstream Lakehouse Overview</a:t>
            </a:r>
          </a:p>
          <a:p>
            <a:r>
              <a:rPr sz="1200">
                <a:solidFill>
                  <a:srgbClr val="6B6B6B"/>
                </a:solidFill>
              </a:rPr>
              <a:t>End-to-End Data Platform with Purchase Propensity ML on Azure 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949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76200" cy="2971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840" y="1178560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1483360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Current Bottlenecks &amp; Legacy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840" y="1737360"/>
            <a:ext cx="5039360" cy="218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Raw clickstream data (2.75M events) stored in flat CSVs with no pipeline or automation.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No real-time ingestion: analyzing user behavior required manual bulk data loads.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No purchase prediction capability: marketing teams made decisions without data-driven signals.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Data quality unverified: duplicate events, null keys, and invalid types went undetected.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No connection between analytics and CRM: Salesforce had zero visibility into visitor engagement.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3949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76200" cy="2971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1120" y="1178560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1120" y="1483360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Modern Medallion Architecture &amp; 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1120" y="1737360"/>
            <a:ext cx="5039360" cy="218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Medallion Lakehouse (Bronze/Silver/Gold) on Azure Databricks with Unity Catalog governance.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Event Hubs + Azure Function for real-time streaming ingestion with Auto Loader checkpoint.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dbt data transformation: 12 models, 25 automated tests for quality gating.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ML purchase propensity model: 10 algorithms compared, isotonic-calibrated LightGBM deployed.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Reverse ETL via Fivetran: 3,862 visitor engagement records synced to Salesforce daily.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Streamlit scoring app: real-time model serving on 20,000 candidate interactions.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457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75B6"/>
                </a:solidFill>
              </a:rPr>
              <a:t>IMPACT OF THE 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2633472" cy="1737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0.395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PR-AUC (Calibrated Model)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4480560"/>
            <a:ext cx="2633472" cy="1737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0.97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ROC-AUC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480560"/>
            <a:ext cx="2633472" cy="1737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84%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Max Calibrated 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4480560"/>
            <a:ext cx="2633472" cy="1737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3,862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Salesforce Records Synced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ML Model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04672"/>
            <a:ext cx="76200" cy="2240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Input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Features fed to the purchase propensity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1490472"/>
            <a:ext cx="503936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view_count: Number of times the visitor viewed this item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addtocart_count: Number of cart-add events for this item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days_since_last_interaction: Recency (days since last activity)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item_is_available: Boolean flag from item properties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item_category_id deliberately EXCLUDED: nominal ID with no ordering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transaction_count excluded as feature to prevent label leakage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804672"/>
            <a:ext cx="76200" cy="2240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Training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112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clickstream.ml_training.ml_training_purchase_propensity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1120" y="1490472"/>
            <a:ext cx="503936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2,144,652 total rows (one per visitor-item interaction pair)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20,743 positive labels (actual purchases = ~0.97% positive rate)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Train/Test split: 75% / 25% with stratified sampling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Source: RetailRocket clickstream dataset (2.75M events)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Label: label_purchased (1 if transaction_count &gt; 0, else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9144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10-Candidate Algorithm Comparison (sorted by PR-AUC)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459480"/>
          <a:ext cx="1109167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1371600"/>
                <a:gridCol w="1371600"/>
                <a:gridCol w="2496312"/>
              </a:tblGrid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lightgbm_depth6 (WINNER)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Gradient Boosting (LightGBM)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0.3916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0.9726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 b="1">
                          <a:solidFill>
                            <a:srgbClr val="1B5E20"/>
                          </a:solidFill>
                        </a:defRPr>
                      </a:pPr>
                      <a:r>
                        <a:t>Calibrated &amp; Registered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xgboost_depth6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Gradient Boosting (XGBoost)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random_forest_depth6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random_forest_depth3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logistic_regression (C=1.0)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Linear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extra_trees_depth6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Ensemble (Extra Trees)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0.3240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naive_bayes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Probabilistic (Gaussian NB)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0.9685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Model Accuracy &amp;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04672"/>
            <a:ext cx="76200" cy="2450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Isotonic Calibration (v7)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CalibratedClassifierCV wraps LightGBM 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1490472"/>
            <a:ext cx="5039360" cy="166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BEFORE: rows scored 90-100% only converted ~31% in reality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AFTER: predicted vs. actual match closely across every band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Predicted 0-10%  -&gt;  Actual 0.09% observed conversion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Predicted 30-40% -&gt;  Actual 35.5% observed conversion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Predicted 40-50% -&gt;  Actual 42.4% observed conversion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Predicted 60-70% -&gt;  Actual 65.6% observed conversion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Max output across 20K candidates: 84% (no false 99%)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•  PR-AUC after calibration: 0.395 (ranking quality preserved)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804672"/>
            <a:ext cx="76200" cy="2450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Model Selection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112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Beyond PR-AUC: two mandatory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1120" y="1490472"/>
            <a:ext cx="5039360" cy="166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Non-degenerate probability spread: test-set std &gt; 0.02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Stress test: hand-built 'disengaged' vs 'engaged' examples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Low engagement (0 views, 60 days stale) must score &lt; 50%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Gap between high and low engagement must be &gt;= 30 points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All 10 candidates pass both checks at full data scale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At demo scale (20 positives), EVERY candidate failed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33333"/>
                </a:solidFill>
              </a:rPr>
              <a:t>•  class_weight='balanced' used across all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2"/>
            <a:ext cx="457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Tech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6979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69792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40" y="379679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Azure Databricks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" y="4101592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Unity Catalog-governed Lakehouse: Auto Loader, Delta Lake, MLflow experiment tracking &amp; model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366979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3669792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9224" y="379679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Azure Event Hubs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9224" y="4101592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Streaming ingestion: 3 hubs (events, item-properties, category-tree) with Avro Capture to ADLS Gen2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669792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3669792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408" y="3796792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dbt (dbt-databricks)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7408" y="4101592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12 SQL models across Silver/Gold/ML schemas, 25 automated tests for data quality gating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682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968240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040" y="5095240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scikit-learn + MLflow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5400040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10-candidate comparison, isotonic calibration, auto-registration to Unity Catalog model 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4" y="49682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6824" y="4968240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9224" y="5095240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LightGBM /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9224" y="5400040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Gradient-boosted tree algorithms: LightGBM won (PR-AUC 0.392), XGBoost runner-up (0.389)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8" y="49682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5008" y="4968240"/>
            <a:ext cx="3566160" cy="6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7408" y="5095240"/>
            <a:ext cx="331216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E79"/>
                </a:solidFill>
              </a:rPr>
              <a:t>Streamlit + Fivetran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7408" y="5400040"/>
            <a:ext cx="331216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55555"/>
                </a:solidFill>
              </a:rPr>
              <a:t>Real-time scoring app (20K candidates) + daily reverse ETL sync to Salesforce (3,862 records)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Business Impact: Before &amp;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04672"/>
          <a:ext cx="1109167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26864"/>
                <a:gridCol w="4636008"/>
              </a:tblGrid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BEFORE (Manual / No Pipeline)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AFTER (Clickstream Lakehouse)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Manual CSV bulk loads, no schedule, hours of effort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Automated streaming via Event Hubs + Auto Loader (every 30 min)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Data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No validation: duplicates, null keys, invalid types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25 automated dbt tests: not-null, uniqueness, accepted-values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Data Freshness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Stale: analysis only after manual refresh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Near real-time: Bronze to Gold in &lt; 40 min end-to-end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Purchase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None: no ML, marketing relies on gut feeling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Calibrated LightGBM: PR-AUC 0.395, scores 20K candidates/sec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CRM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Zero: Salesforce blind to clickstream behavior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3,862 visitor records synced daily with engagement data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Analytics /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Ad-hoc queries on raw CSVs, no KPI dashboards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Power BI Gold layer: funnel trends, conversion rates, item perf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Model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Isotonic-calibrated: predicted scores match actual rates within 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Manual setup, no IaC, unreproducible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950">
                          <a:solidFill>
                            <a:srgbClr val="333333"/>
                          </a:solidFill>
                        </a:defRPr>
                      </a:pPr>
                      <a:r>
                        <a:t>Full Terraform + deploy.sh: one-command full rebuild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51960"/>
            <a:ext cx="457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75B6"/>
                </a:solidFill>
              </a:rPr>
              <a:t>KEY BUSINESS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53712"/>
            <a:ext cx="2084831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~95%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Less Manual Data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4553712"/>
            <a:ext cx="2084831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&lt; 40 min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End-to-End Pipeline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7488" y="4553712"/>
            <a:ext cx="2084831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25/25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Automated Quality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4553712"/>
            <a:ext cx="2084831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100%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Records Synced Successfully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46336" y="4553712"/>
            <a:ext cx="2084831" cy="1691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38.4 min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D6E4F0"/>
                </a:solidFill>
              </a:rPr>
              <a:t>Full Pipeline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How Can We Improve the Model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804672"/>
            <a:ext cx="53949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04672"/>
            <a:ext cx="76200" cy="2633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84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Richer features for better signal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1490472"/>
            <a:ext cx="5039360" cy="184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Session-level features: session duration, page-sequence patterns, bounce rates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Temporal features: time-of-day, day-of-week purchase patterns, seasonality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Category embedding: learn dense representations instead of excluding category_id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Visitor-level aggregates: lifetime value, cross-category interest breadth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Interaction velocity: rate of engagement change over recent time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804672"/>
            <a:ext cx="5394960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804672"/>
            <a:ext cx="76200" cy="2633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120" y="931672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Data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1120" y="1236472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More data, better data, richer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1120" y="1490472"/>
            <a:ext cx="5039360" cy="184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Real product metadata: names, prices, images for content-based features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External data: marketing campaigns, promotions, seasonal events as signals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Continuous ingestion: move from batch-replay to real-time event streaming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A/B testing framework: controlled experiments on model-driven recommendations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33333"/>
                </a:solidFill>
              </a:rPr>
              <a:t>•  User demographic data: age, location, device type for segmentation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539496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76200" cy="2670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840" y="3693160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Advanced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840" y="3997960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More sophisticated algorithms &amp;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40" y="4251960"/>
            <a:ext cx="5039360" cy="188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Deep learning: TabNet or Wide &amp; Deep neural networks for tabular data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Sequence models: LSTM / Transformer on clickstream event sequences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Hyperparameter tuning: Optuna/Hyperopt systematic search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Ensemble stacking: combine LightGBM + XGBoost + RF for marginal gains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Online learning: incremental updates without full retraining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Uplift modeling: predict incremental lift of interventions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39496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66160"/>
            <a:ext cx="76200" cy="2670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1120" y="3693160"/>
            <a:ext cx="509016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</a:rPr>
              <a:t>Operational 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1120" y="3997960"/>
            <a:ext cx="509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75B6"/>
                </a:solidFill>
              </a:rPr>
              <a:t>Production hardening &amp;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1120" y="4251960"/>
            <a:ext cx="5039360" cy="188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Model monitoring: data drift detection (PSI) + automated retraining triggers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A/B model serving: shadow deploy new versions alongside production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Databricks Model Serving: server-side REST endpoint instead of client-side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Feature Store: centralized, versioned features for train/serve parity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Automated scheduling: retrain on data volume thresholds, not ad-hoc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</a:rPr>
              <a:t>•  Explainability: SHAP/LIME dashboards for stakeholder trust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10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3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94944"/>
            <a:ext cx="11091672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04672"/>
            <a:ext cx="11091672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02400"/>
            <a:ext cx="12191365" cy="35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53200"/>
            <a:ext cx="73152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Clickstream Lakehouse  |  Azure + Databricks + dbt + MLflow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085" y="6553200"/>
            <a:ext cx="54864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